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تقرير مبسط لغير المتخصصين، أعدته المتدربة عن المشروع والبرنامج التدريبي. التصميم مستلهم من ترتيب التقرير المرفق فقط؛ محتواه وأسماء جهاته لم تُنقل. الشعار من مستودع أكاديمية سدايا الرسمي، ولا تعني إضافته اعتماد التقرير من الأكاديمية.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المصدر: PROJECT_SUMMARY.json وDATA_CARD.md. التعليقات مؤلفة وليست مراجعات عملاء فعلية. 198 إجمالي الصفوف، وثلاث فئات للمشاعر. معنى نموذجين: نموذج أساسي ونموذج محسن، وليسا نظامين مدفوعين أو واجهتي API.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المصدر الرسمي: https://github.com/SDAIAAcademy/applied-nlp — README.md. الخطة ثلاثة أيام تطبيقية ويوم رابع للعروض. هذه الشريحة تصف محتوى البرنامج المنشور، ولا تدعي إجراء fine-tuning داخل المشروع أو إتمام المتدربة عرضها أمام المدرب.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المعالجة الحقيقية: TF-IDF للتصنيف، Naive Bayes كأساس وLogistic Regression مع الكلمات ومقاطع الحروف للتحسين. التجميع يستعمل تمثيلًا محليًا عبر SVD ثم KMeans، وليس embeddings من Transformer. أسماء الموضوعات قواعد كلمات. الملخص قالب محلي، ولا توجد خدمة LLM خارجية. إخفاء البريد والهاتف جزئي ولا يغطي كل البيانات الشخصية.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النصوص الثلاثة هي نفسها الأمثلة التي تحقق منها test_end_to_end_sentiment_clustering_and_summary وscripts/smoke_test.py. لم تضاف نسب ثقة غير مقاسة. الأمثلة توضح السلوك المتحقق على هذه الجمل، ولا تضمن صحة النموذج على جميع الجمل الجديدة.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المصدر reports/metrics.json وreports/training.json. الأساسي Macro-F1=0.532536 والمحسن=0.574892. هذا ليس قياس accuracy ولا ينبغي تسمية الأرقام نسب دقة. الاختبار ثابت 66، وكل تمثيل ونموذج تعلم من train فقط. validation اختار C=0.5. فاصل الثقة للفرق [-0.032,0.128] يشمل الصفر، لذلك التحسن غير محسوم إحصائيًا. لم يُجر fine-tuning؛ التبرير المكتوب هو البديل الرسمي المستخدم في DECISIONS.md.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المصدر reports/test_validation.json: 22 اختبارًا ناجحًا وصفر failures/errors/skipped؛ reports/error_analysis.csv: 28 خطأ فعليًا في النموذج المحسن. كل تعليقات الاختبار تحت عتبة الثقة 0.55، ولذلك لا نوصي بأتمتة القرار. التكلفة الصفرية تخص عدم وجود API مدفوع ولا تشمل الحوسبة والاستضافة. أسماء المواضيع مستخرجة بقواعد، وsilhouette تشخيص هندسي فقط ولا يثبت صحة المواضيع.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مصادر المشروع: README.md وDATA_CARD.md وMODEL_CARD.md وDECISIONS.md وreports/metrics.json وreports/error_analysis.csv وreports/test_validation.json. مصدر خطة البرنامج وشعار الأكاديمية: https://github.com/SDAIAAcademy/applied-nlp . التقرير المرفق استُخدم مرجعًا للتنسيق فقط، ولا تُنقل منه الوقائع أو أسماء الأشخاص أو الجهات. إضافة الشعار لا تدعي اعتمادًا رسميًا للتقرير. يمكن للمتدربة تعديل جميع النصوص والأشكال في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daiaacademy.github.io/applied-nlp/" TargetMode="External"/><Relationship Id="rId4" Type="http://schemas.openxmlformats.org/officeDocument/2006/relationships/hyperlink" Target="https://github.com/w778756-dotcom/Voice-of-Customer-NLP-wadeen-al-adwani" TargetMode="External"/><Relationship Id="rId5" Type="http://schemas.openxmlformats.org/officeDocument/2006/relationships/hyperlink" Target="https://github.com/SDAIAAcademy/applied-nlp/blob/main/assets/img/academy.svg" TargetMode="External"/><Relationship Id="rId6"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9144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39128"/>
            <a:ext cx="12198096" cy="11887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daia_academy.png"/>
          <p:cNvPicPr>
            <a:picLocks noChangeAspect="1"/>
          </p:cNvPicPr>
          <p:nvPr/>
        </p:nvPicPr>
        <p:blipFill>
          <a:blip r:embed="rId2"/>
          <a:stretch>
            <a:fillRect/>
          </a:stretch>
        </p:blipFill>
        <p:spPr>
          <a:xfrm>
            <a:off x="8887968" y="420624"/>
            <a:ext cx="2514600" cy="588211"/>
          </a:xfrm>
          <a:prstGeom prst="rect">
            <a:avLst/>
          </a:prstGeom>
        </p:spPr>
      </p:pic>
      <p:sp>
        <p:nvSpPr>
          <p:cNvPr id="5" name="TextBox 4"/>
          <p:cNvSpPr txBox="1"/>
          <p:nvPr/>
        </p:nvSpPr>
        <p:spPr>
          <a:xfrm>
            <a:off x="731520" y="1417320"/>
            <a:ext cx="1069848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900" b="1" lang="ar-SA">
                <a:solidFill>
                  <a:srgbClr val="237A57"/>
                </a:solidFill>
                <a:latin typeface="Arial"/>
                <a:ea typeface="Arial"/>
                <a:cs typeface="Arial"/>
              </a:rPr>
              <a:t>تقرير مختصر</a:t>
            </a:r>
          </a:p>
        </p:txBody>
      </p:sp>
      <p:sp>
        <p:nvSpPr>
          <p:cNvPr id="6" name="TextBox 5"/>
          <p:cNvSpPr txBox="1"/>
          <p:nvPr/>
        </p:nvSpPr>
        <p:spPr>
          <a:xfrm>
            <a:off x="731520" y="1947672"/>
            <a:ext cx="10698480" cy="47548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600" b="1" lang="ar-SA">
                <a:solidFill>
                  <a:srgbClr val="173B4A"/>
                </a:solidFill>
                <a:latin typeface="Arial"/>
                <a:ea typeface="Arial"/>
                <a:cs typeface="Arial"/>
              </a:rPr>
              <a:t>البرنامج التدريبي والمشروع التطبيقي</a:t>
            </a:r>
          </a:p>
        </p:txBody>
      </p:sp>
      <p:sp>
        <p:nvSpPr>
          <p:cNvPr id="7" name="TextBox 6"/>
          <p:cNvSpPr txBox="1"/>
          <p:nvPr/>
        </p:nvSpPr>
        <p:spPr>
          <a:xfrm>
            <a:off x="731520" y="2670048"/>
            <a:ext cx="10698480" cy="621792"/>
          </a:xfrm>
          <a:prstGeom prst="rect">
            <a:avLst/>
          </a:prstGeom>
          <a:noFill/>
        </p:spPr>
        <p:txBody>
          <a:bodyPr wrap="square" lIns="27432" rIns="27432" tIns="27432" bIns="27432">
            <a:spAutoFit/>
          </a:bodyPr>
          <a:lstStyle/>
          <a:p>
            <a:pPr algn="ctr" rtl="0">
              <a:lnSpc>
                <a:spcPct val="112000"/>
              </a:lnSpc>
              <a:spcBef>
                <a:spcPts val="0"/>
              </a:spcBef>
              <a:spcAft>
                <a:spcPts val="700"/>
              </a:spcAft>
            </a:pPr>
            <a:r>
              <a:rPr sz="3700" b="1" lang="en-US">
                <a:solidFill>
                  <a:srgbClr val="237A57"/>
                </a:solidFill>
                <a:latin typeface="Arial"/>
                <a:ea typeface="Arial"/>
                <a:cs typeface="Arial"/>
              </a:rPr>
              <a:t>Voice of Customer</a:t>
            </a:r>
          </a:p>
        </p:txBody>
      </p:sp>
      <p:sp>
        <p:nvSpPr>
          <p:cNvPr id="8" name="TextBox 7"/>
          <p:cNvSpPr txBox="1"/>
          <p:nvPr/>
        </p:nvSpPr>
        <p:spPr>
          <a:xfrm>
            <a:off x="731520" y="3364992"/>
            <a:ext cx="10698480"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500" b="0" lang="ar-SA">
                <a:solidFill>
                  <a:srgbClr val="173B4A"/>
                </a:solidFill>
                <a:latin typeface="Arial"/>
                <a:ea typeface="Arial"/>
                <a:cs typeface="Arial"/>
              </a:rPr>
              <a:t>تحليل صوت العميل</a:t>
            </a:r>
          </a:p>
        </p:txBody>
      </p:sp>
      <p:sp>
        <p:nvSpPr>
          <p:cNvPr id="9" name="TextBox 8"/>
          <p:cNvSpPr txBox="1"/>
          <p:nvPr/>
        </p:nvSpPr>
        <p:spPr>
          <a:xfrm>
            <a:off x="731520" y="4315968"/>
            <a:ext cx="10698480" cy="36576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0" lang="ar-SA">
                <a:solidFill>
                  <a:srgbClr val="173B4A"/>
                </a:solidFill>
                <a:latin typeface="Arial"/>
                <a:ea typeface="Arial"/>
                <a:cs typeface="Arial"/>
              </a:rPr>
              <a:t>المتدربة: Wadeen Khalid Al adwani</a:t>
            </a:r>
          </a:p>
        </p:txBody>
      </p:sp>
      <p:sp>
        <p:nvSpPr>
          <p:cNvPr id="10" name="TextBox 9"/>
          <p:cNvSpPr txBox="1"/>
          <p:nvPr/>
        </p:nvSpPr>
        <p:spPr>
          <a:xfrm>
            <a:off x="731520" y="4818888"/>
            <a:ext cx="10698480" cy="36576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0" lang="ar-SA">
                <a:solidFill>
                  <a:srgbClr val="173B4A"/>
                </a:solidFill>
                <a:latin typeface="Arial"/>
                <a:ea typeface="Arial"/>
                <a:cs typeface="Arial"/>
              </a:rPr>
              <a:t>المدرب: مضر محمد الفضلي</a:t>
            </a:r>
          </a:p>
        </p:txBody>
      </p:sp>
      <p:sp>
        <p:nvSpPr>
          <p:cNvPr id="11" name="TextBox 10"/>
          <p:cNvSpPr txBox="1"/>
          <p:nvPr/>
        </p:nvSpPr>
        <p:spPr>
          <a:xfrm>
            <a:off x="731520" y="5394960"/>
            <a:ext cx="10698480" cy="34747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700" b="0" lang="ar-SA">
                <a:solidFill>
                  <a:srgbClr val="61716D"/>
                </a:solidFill>
                <a:latin typeface="Arial"/>
                <a:ea typeface="Arial"/>
                <a:cs typeface="Arial"/>
              </a:rPr>
              <a:t>أكاديمية سدايا — هندسة معالجة اللغة الطبيعية التطبيقية</a:t>
            </a:r>
          </a:p>
        </p:txBody>
      </p:sp>
      <p:sp>
        <p:nvSpPr>
          <p:cNvPr id="12" name="TextBox 11"/>
          <p:cNvSpPr txBox="1"/>
          <p:nvPr/>
        </p:nvSpPr>
        <p:spPr>
          <a:xfrm>
            <a:off x="731520" y="5971032"/>
            <a:ext cx="10698480" cy="25603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200" b="0" lang="ar-SA">
                <a:solidFill>
                  <a:srgbClr val="61716D"/>
                </a:solidFill>
                <a:latin typeface="Arial"/>
                <a:ea typeface="Arial"/>
                <a:cs typeface="Arial"/>
              </a:rPr>
              <a:t>تاريخ إعداد التقرير: ١٥ أكتوبر ٢٠٢٦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ملخص التقرير</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02 / 08</a:t>
            </a:r>
          </a:p>
        </p:txBody>
      </p:sp>
      <p:sp>
        <p:nvSpPr>
          <p:cNvPr id="9" name="TextBox 8"/>
          <p:cNvSpPr txBox="1"/>
          <p:nvPr/>
        </p:nvSpPr>
        <p:spPr>
          <a:xfrm>
            <a:off x="640080" y="1024128"/>
            <a:ext cx="10881360" cy="54864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700" b="1" lang="ar-SA">
                <a:solidFill>
                  <a:srgbClr val="173B4A"/>
                </a:solidFill>
                <a:latin typeface="Arial"/>
                <a:ea typeface="Arial"/>
                <a:cs typeface="Arial"/>
              </a:rPr>
              <a:t>من تعليقات متفرقة إلى صورة أوضح عن آراء العملاء</a:t>
            </a:r>
          </a:p>
        </p:txBody>
      </p:sp>
      <p:sp>
        <p:nvSpPr>
          <p:cNvPr id="10" name="Rounded Rectangle 9"/>
          <p:cNvSpPr/>
          <p:nvPr/>
        </p:nvSpPr>
        <p:spPr>
          <a:xfrm>
            <a:off x="7982712" y="1856231"/>
            <a:ext cx="3538728" cy="1408176"/>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2057400"/>
            <a:ext cx="3264408" cy="5029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3000" b="1" lang="ar-SA">
                <a:solidFill>
                  <a:srgbClr val="237A57"/>
                </a:solidFill>
                <a:latin typeface="Arial"/>
                <a:ea typeface="Arial"/>
                <a:cs typeface="Arial"/>
              </a:rPr>
              <a:t>١٩٨</a:t>
            </a:r>
          </a:p>
        </p:txBody>
      </p:sp>
      <p:sp>
        <p:nvSpPr>
          <p:cNvPr id="12" name="TextBox 11"/>
          <p:cNvSpPr txBox="1"/>
          <p:nvPr/>
        </p:nvSpPr>
        <p:spPr>
          <a:xfrm>
            <a:off x="8119872" y="2734056"/>
            <a:ext cx="3264408" cy="30175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61716D"/>
                </a:solidFill>
                <a:latin typeface="Arial"/>
                <a:ea typeface="Arial"/>
                <a:cs typeface="Arial"/>
              </a:rPr>
              <a:t>تعليقًا تعليميًا مؤلفًا</a:t>
            </a:r>
          </a:p>
        </p:txBody>
      </p:sp>
      <p:sp>
        <p:nvSpPr>
          <p:cNvPr id="13" name="Rounded Rectangle 12"/>
          <p:cNvSpPr/>
          <p:nvPr/>
        </p:nvSpPr>
        <p:spPr>
          <a:xfrm>
            <a:off x="4306824" y="1856231"/>
            <a:ext cx="3538728" cy="1408176"/>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057400"/>
            <a:ext cx="3264408" cy="5029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3000" b="1" lang="ar-SA">
                <a:solidFill>
                  <a:srgbClr val="237A57"/>
                </a:solidFill>
                <a:latin typeface="Arial"/>
                <a:ea typeface="Arial"/>
                <a:cs typeface="Arial"/>
              </a:rPr>
              <a:t>نموذجان</a:t>
            </a:r>
          </a:p>
        </p:txBody>
      </p:sp>
      <p:sp>
        <p:nvSpPr>
          <p:cNvPr id="15" name="TextBox 14"/>
          <p:cNvSpPr txBox="1"/>
          <p:nvPr/>
        </p:nvSpPr>
        <p:spPr>
          <a:xfrm>
            <a:off x="4443984" y="2734056"/>
            <a:ext cx="3264408" cy="30175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61716D"/>
                </a:solidFill>
                <a:latin typeface="Arial"/>
                <a:ea typeface="Arial"/>
                <a:cs typeface="Arial"/>
              </a:rPr>
              <a:t>للمقارنة وقياس التحسن</a:t>
            </a:r>
          </a:p>
        </p:txBody>
      </p:sp>
      <p:sp>
        <p:nvSpPr>
          <p:cNvPr id="16" name="Rounded Rectangle 15"/>
          <p:cNvSpPr/>
          <p:nvPr/>
        </p:nvSpPr>
        <p:spPr>
          <a:xfrm>
            <a:off x="630936" y="1856231"/>
            <a:ext cx="3538728" cy="1408176"/>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057400"/>
            <a:ext cx="3264408" cy="5029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3000" b="1" lang="ar-SA">
                <a:solidFill>
                  <a:srgbClr val="237A57"/>
                </a:solidFill>
                <a:latin typeface="Arial"/>
                <a:ea typeface="Arial"/>
                <a:cs typeface="Arial"/>
              </a:rPr>
              <a:t>٣ مشاعر</a:t>
            </a:r>
          </a:p>
        </p:txBody>
      </p:sp>
      <p:sp>
        <p:nvSpPr>
          <p:cNvPr id="18" name="TextBox 17"/>
          <p:cNvSpPr txBox="1"/>
          <p:nvPr/>
        </p:nvSpPr>
        <p:spPr>
          <a:xfrm>
            <a:off x="768096" y="2734056"/>
            <a:ext cx="3264408" cy="30175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61716D"/>
                </a:solidFill>
                <a:latin typeface="Arial"/>
                <a:ea typeface="Arial"/>
                <a:cs typeface="Arial"/>
              </a:rPr>
              <a:t>إيجابي • سلبي • محايد</a:t>
            </a:r>
          </a:p>
        </p:txBody>
      </p:sp>
      <p:sp>
        <p:nvSpPr>
          <p:cNvPr id="19" name="Rounded Rectangle 18"/>
          <p:cNvSpPr/>
          <p:nvPr/>
        </p:nvSpPr>
        <p:spPr>
          <a:xfrm>
            <a:off x="6236208" y="3657600"/>
            <a:ext cx="5276088"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22191"/>
            <a:ext cx="4873751"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الفكرة</a:t>
            </a:r>
          </a:p>
        </p:txBody>
      </p:sp>
      <p:sp>
        <p:nvSpPr>
          <p:cNvPr id="21" name="TextBox 20"/>
          <p:cNvSpPr txBox="1"/>
          <p:nvPr/>
        </p:nvSpPr>
        <p:spPr>
          <a:xfrm>
            <a:off x="6437376" y="4434840"/>
            <a:ext cx="4873751"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مساعدة المسؤول على فهم تعليقات العملاء</a:t>
            </a:r>
          </a:p>
          <a:p>
            <a:pPr algn="r" rtl="1">
              <a:lnSpc>
                <a:spcPct val="112000"/>
              </a:lnSpc>
              <a:spcBef>
                <a:spcPts val="0"/>
              </a:spcBef>
              <a:spcAft>
                <a:spcPts val="700"/>
              </a:spcAft>
            </a:pPr>
            <a:r>
              <a:rPr sz="1800" b="0" lang="ar-SA">
                <a:solidFill>
                  <a:srgbClr val="173B4A"/>
                </a:solidFill>
                <a:latin typeface="Arial"/>
                <a:ea typeface="Arial"/>
                <a:cs typeface="Arial"/>
              </a:rPr>
              <a:t>وملاحظة المشكلات المتكررة بسرعة.</a:t>
            </a:r>
          </a:p>
        </p:txBody>
      </p:sp>
      <p:sp>
        <p:nvSpPr>
          <p:cNvPr id="22" name="Rounded Rectangle 21"/>
          <p:cNvSpPr/>
          <p:nvPr/>
        </p:nvSpPr>
        <p:spPr>
          <a:xfrm>
            <a:off x="658368" y="3657600"/>
            <a:ext cx="5276088"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3822191"/>
            <a:ext cx="4873751"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ما الذي يقدمه المشروع؟</a:t>
            </a:r>
          </a:p>
        </p:txBody>
      </p:sp>
      <p:sp>
        <p:nvSpPr>
          <p:cNvPr id="24" name="TextBox 23"/>
          <p:cNvSpPr txBox="1"/>
          <p:nvPr/>
        </p:nvSpPr>
        <p:spPr>
          <a:xfrm>
            <a:off x="859536" y="4434840"/>
            <a:ext cx="4873751"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تصنيف التعليقات وتجميع المتشابه منها،</a:t>
            </a:r>
          </a:p>
          <a:p>
            <a:pPr algn="r" rtl="1">
              <a:lnSpc>
                <a:spcPct val="112000"/>
              </a:lnSpc>
              <a:spcBef>
                <a:spcPts val="0"/>
              </a:spcBef>
              <a:spcAft>
                <a:spcPts val="700"/>
              </a:spcAft>
            </a:pPr>
            <a:r>
              <a:rPr sz="1800" b="0" lang="ar-SA">
                <a:solidFill>
                  <a:srgbClr val="173B4A"/>
                </a:solidFill>
                <a:latin typeface="Arial"/>
                <a:ea typeface="Arial"/>
                <a:cs typeface="Arial"/>
              </a:rPr>
              <a:t>ثم تلخيص النتائج مع أمثلة واضحة.</a:t>
            </a:r>
          </a:p>
        </p:txBody>
      </p:sp>
      <p:sp>
        <p:nvSpPr>
          <p:cNvPr id="25" name="TextBox 24"/>
          <p:cNvSpPr txBox="1"/>
          <p:nvPr/>
        </p:nvSpPr>
        <p:spPr>
          <a:xfrm>
            <a:off x="822960" y="5632704"/>
            <a:ext cx="10515600" cy="38404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700" b="0" lang="ar-SA">
                <a:solidFill>
                  <a:srgbClr val="61716D"/>
                </a:solidFill>
                <a:latin typeface="Arial"/>
                <a:ea typeface="Arial"/>
                <a:cs typeface="Arial"/>
              </a:rPr>
              <a:t>نسخة تعليمية قابلة للتشغيل؛ النتائج تحتاج مراجعة بشرية.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عن البرنامج التدريبي</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03 / 08</a:t>
            </a:r>
          </a:p>
        </p:txBody>
      </p:sp>
      <p:sp>
        <p:nvSpPr>
          <p:cNvPr id="9" name="TextBox 8"/>
          <p:cNvSpPr txBox="1"/>
          <p:nvPr/>
        </p:nvSpPr>
        <p:spPr>
          <a:xfrm>
            <a:off x="685800" y="1005840"/>
            <a:ext cx="10835640" cy="502920"/>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700" b="1" lang="ar-SA">
                <a:solidFill>
                  <a:srgbClr val="173B4A"/>
                </a:solidFill>
                <a:latin typeface="Arial"/>
                <a:ea typeface="Arial"/>
                <a:cs typeface="Arial"/>
              </a:rPr>
              <a:t>هندسة معالجة اللغة الطبيعية التطبيقية</a:t>
            </a:r>
          </a:p>
        </p:txBody>
      </p:sp>
      <p:sp>
        <p:nvSpPr>
          <p:cNvPr id="10" name="TextBox 9"/>
          <p:cNvSpPr txBox="1"/>
          <p:nvPr/>
        </p:nvSpPr>
        <p:spPr>
          <a:xfrm>
            <a:off x="685800" y="1682496"/>
            <a:ext cx="10835640" cy="548640"/>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000" b="0" lang="ar-SA">
                <a:solidFill>
                  <a:srgbClr val="61716D"/>
                </a:solidFill>
                <a:latin typeface="Arial"/>
                <a:ea typeface="Arial"/>
                <a:cs typeface="Arial"/>
              </a:rPr>
              <a:t>برنامج عملي يوضح كيف يمكن للحاسوب فهم النصوص وبناء تطبيقات تستفيد منها.</a:t>
            </a:r>
          </a:p>
        </p:txBody>
      </p:sp>
      <p:sp>
        <p:nvSpPr>
          <p:cNvPr id="11" name="Rounded Rectangle 10"/>
          <p:cNvSpPr/>
          <p:nvPr/>
        </p:nvSpPr>
        <p:spPr>
          <a:xfrm>
            <a:off x="6254496" y="2331720"/>
            <a:ext cx="525780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496312"/>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اليوم الأول | فهم النصوص</a:t>
            </a:r>
          </a:p>
        </p:txBody>
      </p:sp>
      <p:sp>
        <p:nvSpPr>
          <p:cNvPr id="13" name="TextBox 12"/>
          <p:cNvSpPr txBox="1"/>
          <p:nvPr/>
        </p:nvSpPr>
        <p:spPr>
          <a:xfrm>
            <a:off x="6455664" y="3108960"/>
            <a:ext cx="4855464"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تحويل الكلمات إلى بيانات رقمية،</a:t>
            </a:r>
          </a:p>
          <a:p>
            <a:pPr algn="r" rtl="1">
              <a:lnSpc>
                <a:spcPct val="112000"/>
              </a:lnSpc>
              <a:spcBef>
                <a:spcPts val="0"/>
              </a:spcBef>
              <a:spcAft>
                <a:spcPts val="700"/>
              </a:spcAft>
            </a:pPr>
            <a:r>
              <a:rPr sz="1800" b="0" lang="ar-SA">
                <a:solidFill>
                  <a:srgbClr val="173B4A"/>
                </a:solidFill>
                <a:latin typeface="Arial"/>
                <a:ea typeface="Arial"/>
                <a:cs typeface="Arial"/>
              </a:rPr>
              <a:t>والتعرف على أسس النماذج اللغوية.</a:t>
            </a:r>
          </a:p>
        </p:txBody>
      </p:sp>
      <p:sp>
        <p:nvSpPr>
          <p:cNvPr id="14" name="Rounded Rectangle 13"/>
          <p:cNvSpPr/>
          <p:nvPr/>
        </p:nvSpPr>
        <p:spPr>
          <a:xfrm>
            <a:off x="676656" y="2331720"/>
            <a:ext cx="525780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496312"/>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اليوم الثاني | بناء التطبيقات</a:t>
            </a:r>
          </a:p>
        </p:txBody>
      </p:sp>
      <p:sp>
        <p:nvSpPr>
          <p:cNvPr id="16" name="TextBox 15"/>
          <p:cNvSpPr txBox="1"/>
          <p:nvPr/>
        </p:nvSpPr>
        <p:spPr>
          <a:xfrm>
            <a:off x="877824" y="3108960"/>
            <a:ext cx="4855464"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استخدام النماذج في مهام عملية،</a:t>
            </a:r>
          </a:p>
          <a:p>
            <a:pPr algn="r" rtl="1">
              <a:lnSpc>
                <a:spcPct val="112000"/>
              </a:lnSpc>
              <a:spcBef>
                <a:spcPts val="0"/>
              </a:spcBef>
              <a:spcAft>
                <a:spcPts val="700"/>
              </a:spcAft>
            </a:pPr>
            <a:r>
              <a:rPr sz="1800" b="0" lang="ar-SA">
                <a:solidFill>
                  <a:srgbClr val="173B4A"/>
                </a:solidFill>
                <a:latin typeface="Arial"/>
                <a:ea typeface="Arial"/>
                <a:cs typeface="Arial"/>
              </a:rPr>
              <a:t>مثل الإجابة عن الأسئلة واسترجاع المعلومات.</a:t>
            </a:r>
          </a:p>
        </p:txBody>
      </p:sp>
      <p:sp>
        <p:nvSpPr>
          <p:cNvPr id="17" name="Rounded Rectangle 16"/>
          <p:cNvSpPr/>
          <p:nvPr/>
        </p:nvSpPr>
        <p:spPr>
          <a:xfrm>
            <a:off x="6254496" y="4206240"/>
            <a:ext cx="525780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4370831"/>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اليوم الثالث | التدريب والتقييم</a:t>
            </a:r>
          </a:p>
        </p:txBody>
      </p:sp>
      <p:sp>
        <p:nvSpPr>
          <p:cNvPr id="19" name="TextBox 18"/>
          <p:cNvSpPr txBox="1"/>
          <p:nvPr/>
        </p:nvSpPr>
        <p:spPr>
          <a:xfrm>
            <a:off x="6455664" y="4983479"/>
            <a:ext cx="4855464"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تجهيز البيانات وتدريب النماذج،</a:t>
            </a:r>
          </a:p>
          <a:p>
            <a:pPr algn="r" rtl="1">
              <a:lnSpc>
                <a:spcPct val="112000"/>
              </a:lnSpc>
              <a:spcBef>
                <a:spcPts val="0"/>
              </a:spcBef>
              <a:spcAft>
                <a:spcPts val="700"/>
              </a:spcAft>
            </a:pPr>
            <a:r>
              <a:rPr sz="1800" b="0" lang="ar-SA">
                <a:solidFill>
                  <a:srgbClr val="173B4A"/>
                </a:solidFill>
                <a:latin typeface="Arial"/>
                <a:ea typeface="Arial"/>
                <a:cs typeface="Arial"/>
              </a:rPr>
              <a:t>وفحص النتائج واختيار الحل المناسب.</a:t>
            </a:r>
          </a:p>
        </p:txBody>
      </p:sp>
      <p:sp>
        <p:nvSpPr>
          <p:cNvPr id="20" name="Rounded Rectangle 19"/>
          <p:cNvSpPr/>
          <p:nvPr/>
        </p:nvSpPr>
        <p:spPr>
          <a:xfrm>
            <a:off x="676656" y="4206240"/>
            <a:ext cx="525780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4370831"/>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اليوم الرابع | عرض المشروع</a:t>
            </a:r>
          </a:p>
        </p:txBody>
      </p:sp>
      <p:sp>
        <p:nvSpPr>
          <p:cNvPr id="22" name="TextBox 21"/>
          <p:cNvSpPr txBox="1"/>
          <p:nvPr/>
        </p:nvSpPr>
        <p:spPr>
          <a:xfrm>
            <a:off x="877824" y="4983479"/>
            <a:ext cx="4855464" cy="88696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عرض التطبيق وشرح طريقة العمل</a:t>
            </a:r>
          </a:p>
          <a:p>
            <a:pPr algn="r" rtl="1">
              <a:lnSpc>
                <a:spcPct val="112000"/>
              </a:lnSpc>
              <a:spcBef>
                <a:spcPts val="0"/>
              </a:spcBef>
              <a:spcAft>
                <a:spcPts val="700"/>
              </a:spcAft>
            </a:pPr>
            <a:r>
              <a:rPr sz="1800" b="0" lang="ar-SA">
                <a:solidFill>
                  <a:srgbClr val="173B4A"/>
                </a:solidFill>
                <a:latin typeface="Arial"/>
                <a:ea typeface="Arial"/>
                <a:cs typeface="Arial"/>
              </a:rPr>
              <a:t>والنتائج والحدود أمام المدرب.</a:t>
            </a:r>
          </a:p>
        </p:txBody>
      </p:sp>
      <p:sp>
        <p:nvSpPr>
          <p:cNvPr id="23" name="TextBox 22"/>
          <p:cNvSpPr txBox="1"/>
          <p:nvPr/>
        </p:nvSpPr>
        <p:spPr>
          <a:xfrm>
            <a:off x="731520" y="5998464"/>
            <a:ext cx="10744200" cy="274320"/>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200" b="0" lang="ar-SA">
                <a:solidFill>
                  <a:srgbClr val="61716D"/>
                </a:solidFill>
                <a:latin typeface="Arial"/>
                <a:ea typeface="Arial"/>
                <a:cs typeface="Arial"/>
              </a:rPr>
              <a:t>بحسب خطة الدورة المنشورة لدى أكاديمية سدايا؛ لا يتضمن هذا التقرير إثبات حضور أو تقييمًا رسميًا.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كيف يعمل مشروع Voice of Customer؟</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04 / 08</a:t>
            </a:r>
          </a:p>
        </p:txBody>
      </p:sp>
      <p:sp>
        <p:nvSpPr>
          <p:cNvPr id="9" name="TextBox 8"/>
          <p:cNvSpPr txBox="1"/>
          <p:nvPr/>
        </p:nvSpPr>
        <p:spPr>
          <a:xfrm>
            <a:off x="685800" y="1097280"/>
            <a:ext cx="10835640" cy="594360"/>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200" b="0" lang="ar-SA">
                <a:solidFill>
                  <a:srgbClr val="173B4A"/>
                </a:solidFill>
                <a:latin typeface="Arial"/>
                <a:ea typeface="Arial"/>
                <a:cs typeface="Arial"/>
              </a:rPr>
              <a:t>المدخلات: تعليق مكتوب، عدة تعليقات، أو ملف CSV يحتوي على التعليقات.</a:t>
            </a:r>
          </a:p>
        </p:txBody>
      </p:sp>
      <p:sp>
        <p:nvSpPr>
          <p:cNvPr id="10" name="Rounded Rectangle 9"/>
          <p:cNvSpPr/>
          <p:nvPr/>
        </p:nvSpPr>
        <p:spPr>
          <a:xfrm>
            <a:off x="9400032" y="2468880"/>
            <a:ext cx="201168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91472" y="2715768"/>
            <a:ext cx="182880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التعليقات</a:t>
            </a:r>
          </a:p>
        </p:txBody>
      </p:sp>
      <p:sp>
        <p:nvSpPr>
          <p:cNvPr id="12" name="TextBox 11"/>
          <p:cNvSpPr txBox="1"/>
          <p:nvPr/>
        </p:nvSpPr>
        <p:spPr>
          <a:xfrm>
            <a:off x="9491472" y="3300984"/>
            <a:ext cx="1828800" cy="694944"/>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173B4A"/>
                </a:solidFill>
                <a:latin typeface="Arial"/>
                <a:ea typeface="Arial"/>
                <a:cs typeface="Arial"/>
              </a:rPr>
              <a:t>نصوص يدخلها</a:t>
            </a:r>
          </a:p>
          <a:p>
            <a:pPr algn="ctr" rtl="1">
              <a:lnSpc>
                <a:spcPct val="112000"/>
              </a:lnSpc>
              <a:spcBef>
                <a:spcPts val="0"/>
              </a:spcBef>
              <a:spcAft>
                <a:spcPts val="700"/>
              </a:spcAft>
            </a:pPr>
            <a:r>
              <a:rPr sz="1600" b="0" lang="ar-SA">
                <a:solidFill>
                  <a:srgbClr val="173B4A"/>
                </a:solidFill>
                <a:latin typeface="Arial"/>
                <a:ea typeface="Arial"/>
                <a:cs typeface="Arial"/>
              </a:rPr>
              <a:t>المستخدم</a:t>
            </a:r>
          </a:p>
        </p:txBody>
      </p:sp>
      <p:sp>
        <p:nvSpPr>
          <p:cNvPr id="13" name="Left Arrow 12"/>
          <p:cNvSpPr/>
          <p:nvPr/>
        </p:nvSpPr>
        <p:spPr>
          <a:xfrm>
            <a:off x="9208007" y="3145536"/>
            <a:ext cx="201168" cy="237744"/>
          </a:xfrm>
          <a:prstGeom prst="leftArrow">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205471" y="2468880"/>
            <a:ext cx="201168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6911" y="2715768"/>
            <a:ext cx="182880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تهيئة النص</a:t>
            </a:r>
          </a:p>
        </p:txBody>
      </p:sp>
      <p:sp>
        <p:nvSpPr>
          <p:cNvPr id="16" name="TextBox 15"/>
          <p:cNvSpPr txBox="1"/>
          <p:nvPr/>
        </p:nvSpPr>
        <p:spPr>
          <a:xfrm>
            <a:off x="7296911" y="3300984"/>
            <a:ext cx="1828800" cy="694944"/>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173B4A"/>
                </a:solidFill>
                <a:latin typeface="Arial"/>
                <a:ea typeface="Arial"/>
                <a:cs typeface="Arial"/>
              </a:rPr>
              <a:t>تنظيم الكتابة وإخفاء</a:t>
            </a:r>
          </a:p>
          <a:p>
            <a:pPr algn="ctr" rtl="1">
              <a:lnSpc>
                <a:spcPct val="112000"/>
              </a:lnSpc>
              <a:spcBef>
                <a:spcPts val="0"/>
              </a:spcBef>
              <a:spcAft>
                <a:spcPts val="700"/>
              </a:spcAft>
            </a:pPr>
            <a:r>
              <a:rPr sz="1600" b="0" lang="ar-SA">
                <a:solidFill>
                  <a:srgbClr val="173B4A"/>
                </a:solidFill>
                <a:latin typeface="Arial"/>
                <a:ea typeface="Arial"/>
                <a:cs typeface="Arial"/>
              </a:rPr>
              <a:t>بعض بيانات التواصل</a:t>
            </a:r>
          </a:p>
        </p:txBody>
      </p:sp>
      <p:sp>
        <p:nvSpPr>
          <p:cNvPr id="17" name="Left Arrow 16"/>
          <p:cNvSpPr/>
          <p:nvPr/>
        </p:nvSpPr>
        <p:spPr>
          <a:xfrm>
            <a:off x="7013447" y="3145536"/>
            <a:ext cx="201168" cy="237744"/>
          </a:xfrm>
          <a:prstGeom prst="leftArrow">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10912" y="2468880"/>
            <a:ext cx="201168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2351" y="2715768"/>
            <a:ext cx="182880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المشاعر</a:t>
            </a:r>
          </a:p>
        </p:txBody>
      </p:sp>
      <p:sp>
        <p:nvSpPr>
          <p:cNvPr id="20" name="TextBox 19"/>
          <p:cNvSpPr txBox="1"/>
          <p:nvPr/>
        </p:nvSpPr>
        <p:spPr>
          <a:xfrm>
            <a:off x="5102351" y="3300984"/>
            <a:ext cx="1828800" cy="694944"/>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173B4A"/>
                </a:solidFill>
                <a:latin typeface="Arial"/>
                <a:ea typeface="Arial"/>
                <a:cs typeface="Arial"/>
              </a:rPr>
              <a:t>إيجابي أو سلبي</a:t>
            </a:r>
          </a:p>
          <a:p>
            <a:pPr algn="ctr" rtl="1">
              <a:lnSpc>
                <a:spcPct val="112000"/>
              </a:lnSpc>
              <a:spcBef>
                <a:spcPts val="0"/>
              </a:spcBef>
              <a:spcAft>
                <a:spcPts val="700"/>
              </a:spcAft>
            </a:pPr>
            <a:r>
              <a:rPr sz="1600" b="0" lang="ar-SA">
                <a:solidFill>
                  <a:srgbClr val="173B4A"/>
                </a:solidFill>
                <a:latin typeface="Arial"/>
                <a:ea typeface="Arial"/>
                <a:cs typeface="Arial"/>
              </a:rPr>
              <a:t>أو محايد</a:t>
            </a:r>
          </a:p>
        </p:txBody>
      </p:sp>
      <p:sp>
        <p:nvSpPr>
          <p:cNvPr id="21" name="Left Arrow 20"/>
          <p:cNvSpPr/>
          <p:nvPr/>
        </p:nvSpPr>
        <p:spPr>
          <a:xfrm>
            <a:off x="4818888" y="3145536"/>
            <a:ext cx="201168" cy="237744"/>
          </a:xfrm>
          <a:prstGeom prst="leftArrow">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16352" y="2468880"/>
            <a:ext cx="201168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07792" y="2715768"/>
            <a:ext cx="182880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التجميع</a:t>
            </a:r>
          </a:p>
        </p:txBody>
      </p:sp>
      <p:sp>
        <p:nvSpPr>
          <p:cNvPr id="24" name="TextBox 23"/>
          <p:cNvSpPr txBox="1"/>
          <p:nvPr/>
        </p:nvSpPr>
        <p:spPr>
          <a:xfrm>
            <a:off x="2907792" y="3300984"/>
            <a:ext cx="1828800" cy="694944"/>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173B4A"/>
                </a:solidFill>
                <a:latin typeface="Arial"/>
                <a:ea typeface="Arial"/>
                <a:cs typeface="Arial"/>
              </a:rPr>
              <a:t>وضع التعليقات</a:t>
            </a:r>
          </a:p>
          <a:p>
            <a:pPr algn="ctr" rtl="1">
              <a:lnSpc>
                <a:spcPct val="112000"/>
              </a:lnSpc>
              <a:spcBef>
                <a:spcPts val="0"/>
              </a:spcBef>
              <a:spcAft>
                <a:spcPts val="700"/>
              </a:spcAft>
            </a:pPr>
            <a:r>
              <a:rPr sz="1600" b="0" lang="ar-SA">
                <a:solidFill>
                  <a:srgbClr val="173B4A"/>
                </a:solidFill>
                <a:latin typeface="Arial"/>
                <a:ea typeface="Arial"/>
                <a:cs typeface="Arial"/>
              </a:rPr>
              <a:t>المتشابهة معًا</a:t>
            </a:r>
          </a:p>
        </p:txBody>
      </p:sp>
      <p:sp>
        <p:nvSpPr>
          <p:cNvPr id="25" name="Left Arrow 24"/>
          <p:cNvSpPr/>
          <p:nvPr/>
        </p:nvSpPr>
        <p:spPr>
          <a:xfrm>
            <a:off x="2624328" y="3145536"/>
            <a:ext cx="201168" cy="237744"/>
          </a:xfrm>
          <a:prstGeom prst="leftArrow">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1" y="2468880"/>
            <a:ext cx="2011680" cy="178308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1" y="2715768"/>
            <a:ext cx="1828800" cy="41148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الملخص</a:t>
            </a:r>
          </a:p>
        </p:txBody>
      </p:sp>
      <p:sp>
        <p:nvSpPr>
          <p:cNvPr id="28" name="TextBox 27"/>
          <p:cNvSpPr txBox="1"/>
          <p:nvPr/>
        </p:nvSpPr>
        <p:spPr>
          <a:xfrm>
            <a:off x="713231" y="3300984"/>
            <a:ext cx="1828800" cy="694944"/>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173B4A"/>
                </a:solidFill>
                <a:latin typeface="Arial"/>
                <a:ea typeface="Arial"/>
                <a:cs typeface="Arial"/>
              </a:rPr>
              <a:t>أعداد وتعليق ممثل</a:t>
            </a:r>
          </a:p>
          <a:p>
            <a:pPr algn="ctr" rtl="1">
              <a:lnSpc>
                <a:spcPct val="112000"/>
              </a:lnSpc>
              <a:spcBef>
                <a:spcPts val="0"/>
              </a:spcBef>
              <a:spcAft>
                <a:spcPts val="700"/>
              </a:spcAft>
            </a:pPr>
            <a:r>
              <a:rPr sz="1600" b="0" lang="ar-SA">
                <a:solidFill>
                  <a:srgbClr val="173B4A"/>
                </a:solidFill>
                <a:latin typeface="Arial"/>
                <a:ea typeface="Arial"/>
                <a:cs typeface="Arial"/>
              </a:rPr>
              <a:t>لكل مجموعة</a:t>
            </a:r>
          </a:p>
        </p:txBody>
      </p:sp>
      <p:sp>
        <p:nvSpPr>
          <p:cNvPr id="29" name="Rounded Rectangle 28"/>
          <p:cNvSpPr/>
          <p:nvPr/>
        </p:nvSpPr>
        <p:spPr>
          <a:xfrm>
            <a:off x="685800" y="4892040"/>
            <a:ext cx="10817352" cy="832104"/>
          </a:xfrm>
          <a:prstGeom prst="roundRect">
            <a:avLst>
              <a:gd name="adj" fmla="val 8000"/>
            </a:avLst>
          </a:prstGeom>
          <a:solidFill>
            <a:srgbClr val="EA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102352"/>
            <a:ext cx="10351008" cy="42976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1" lang="ar-SA">
                <a:solidFill>
                  <a:srgbClr val="237A57"/>
                </a:solidFill>
                <a:latin typeface="Arial"/>
                <a:ea typeface="Arial"/>
                <a:cs typeface="Arial"/>
              </a:rPr>
              <a:t>النظام يساعد المسؤول في قراءة التعليقات؛ والقرار النهائي يحتاج إلى مراجعة بشرية.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مثال مبسط على المخرجات</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05 / 08</a:t>
            </a:r>
          </a:p>
        </p:txBody>
      </p:sp>
      <p:sp>
        <p:nvSpPr>
          <p:cNvPr id="9" name="TextBox 8"/>
          <p:cNvSpPr txBox="1"/>
          <p:nvPr/>
        </p:nvSpPr>
        <p:spPr>
          <a:xfrm>
            <a:off x="3657600" y="1097280"/>
            <a:ext cx="7424927" cy="38404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173B4A"/>
                </a:solidFill>
                <a:latin typeface="Arial"/>
                <a:ea typeface="Arial"/>
                <a:cs typeface="Arial"/>
              </a:rPr>
              <a:t>تعليق العميل</a:t>
            </a:r>
          </a:p>
        </p:txBody>
      </p:sp>
      <p:sp>
        <p:nvSpPr>
          <p:cNvPr id="10" name="TextBox 9"/>
          <p:cNvSpPr txBox="1"/>
          <p:nvPr/>
        </p:nvSpPr>
        <p:spPr>
          <a:xfrm>
            <a:off x="868680" y="1097280"/>
            <a:ext cx="2651760" cy="38404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1" lang="ar-SA">
                <a:solidFill>
                  <a:srgbClr val="173B4A"/>
                </a:solidFill>
                <a:latin typeface="Arial"/>
                <a:ea typeface="Arial"/>
                <a:cs typeface="Arial"/>
              </a:rPr>
              <a:t>المشاعر المتوقعة</a:t>
            </a:r>
          </a:p>
        </p:txBody>
      </p:sp>
      <p:sp>
        <p:nvSpPr>
          <p:cNvPr id="11" name="Rounded Rectangle 10"/>
          <p:cNvSpPr/>
          <p:nvPr/>
        </p:nvSpPr>
        <p:spPr>
          <a:xfrm>
            <a:off x="685800" y="1810512"/>
            <a:ext cx="10817352" cy="932688"/>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066543"/>
            <a:ext cx="7452360" cy="448056"/>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0" lang="ar-SA">
                <a:solidFill>
                  <a:srgbClr val="173B4A"/>
                </a:solidFill>
                <a:latin typeface="Arial"/>
                <a:ea typeface="Arial"/>
                <a:cs typeface="Arial"/>
              </a:rPr>
              <a:t>التوصيل سريع وكل الطلب كامل</a:t>
            </a:r>
          </a:p>
        </p:txBody>
      </p:sp>
      <p:sp>
        <p:nvSpPr>
          <p:cNvPr id="13" name="Rounded Rectangle 12"/>
          <p:cNvSpPr/>
          <p:nvPr/>
        </p:nvSpPr>
        <p:spPr>
          <a:xfrm>
            <a:off x="960120" y="1993392"/>
            <a:ext cx="2377440" cy="566928"/>
          </a:xfrm>
          <a:prstGeom prst="roundRect">
            <a:avLst>
              <a:gd name="adj" fmla="val 8000"/>
            </a:avLst>
          </a:prstGeom>
          <a:solidFill>
            <a:srgbClr val="EA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075688"/>
            <a:ext cx="2286000" cy="34747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237A57"/>
                </a:solidFill>
                <a:latin typeface="Arial"/>
                <a:ea typeface="Arial"/>
                <a:cs typeface="Arial"/>
              </a:rPr>
              <a:t>إيجابي</a:t>
            </a:r>
          </a:p>
        </p:txBody>
      </p:sp>
      <p:sp>
        <p:nvSpPr>
          <p:cNvPr id="15" name="Rounded Rectangle 14"/>
          <p:cNvSpPr/>
          <p:nvPr/>
        </p:nvSpPr>
        <p:spPr>
          <a:xfrm>
            <a:off x="685800" y="2990088"/>
            <a:ext cx="10817352" cy="932688"/>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3246120"/>
            <a:ext cx="7452360" cy="448056"/>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0" lang="ar-SA">
                <a:solidFill>
                  <a:srgbClr val="173B4A"/>
                </a:solidFill>
                <a:latin typeface="Arial"/>
                <a:ea typeface="Arial"/>
                <a:cs typeface="Arial"/>
              </a:rPr>
              <a:t>التطبيق يعلق والدفع ما يتم</a:t>
            </a:r>
          </a:p>
        </p:txBody>
      </p:sp>
      <p:sp>
        <p:nvSpPr>
          <p:cNvPr id="17" name="Rounded Rectangle 16"/>
          <p:cNvSpPr/>
          <p:nvPr/>
        </p:nvSpPr>
        <p:spPr>
          <a:xfrm>
            <a:off x="960120" y="3172968"/>
            <a:ext cx="2377440" cy="566928"/>
          </a:xfrm>
          <a:prstGeom prst="roundRect">
            <a:avLst>
              <a:gd name="adj" fmla="val 8000"/>
            </a:avLst>
          </a:prstGeom>
          <a:solidFill>
            <a:srgbClr val="F8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55264"/>
            <a:ext cx="2286000" cy="34747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AC4745"/>
                </a:solidFill>
                <a:latin typeface="Arial"/>
                <a:ea typeface="Arial"/>
                <a:cs typeface="Arial"/>
              </a:rPr>
              <a:t>سلبي</a:t>
            </a:r>
          </a:p>
        </p:txBody>
      </p:sp>
      <p:sp>
        <p:nvSpPr>
          <p:cNvPr id="19" name="Rounded Rectangle 18"/>
          <p:cNvSpPr/>
          <p:nvPr/>
        </p:nvSpPr>
        <p:spPr>
          <a:xfrm>
            <a:off x="685800" y="4169664"/>
            <a:ext cx="10817352" cy="932688"/>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4425696"/>
            <a:ext cx="7452360" cy="448056"/>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0" lang="ar-SA">
                <a:solidFill>
                  <a:srgbClr val="173B4A"/>
                </a:solidFill>
                <a:latin typeface="Arial"/>
                <a:ea typeface="Arial"/>
                <a:cs typeface="Arial"/>
              </a:rPr>
              <a:t>كيف أوصل لخدمة المحادثة</a:t>
            </a:r>
          </a:p>
        </p:txBody>
      </p:sp>
      <p:sp>
        <p:nvSpPr>
          <p:cNvPr id="21" name="Rounded Rectangle 20"/>
          <p:cNvSpPr/>
          <p:nvPr/>
        </p:nvSpPr>
        <p:spPr>
          <a:xfrm>
            <a:off x="960120" y="4352544"/>
            <a:ext cx="2377440" cy="566928"/>
          </a:xfrm>
          <a:prstGeom prst="roundRect">
            <a:avLst>
              <a:gd name="adj" fmla="val 8000"/>
            </a:avLst>
          </a:prstGeom>
          <a:solidFill>
            <a:srgbClr val="FAF3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434840"/>
            <a:ext cx="2286000" cy="34747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100" b="1" lang="ar-SA">
                <a:solidFill>
                  <a:srgbClr val="916719"/>
                </a:solidFill>
                <a:latin typeface="Arial"/>
                <a:ea typeface="Arial"/>
                <a:cs typeface="Arial"/>
              </a:rPr>
              <a:t>محايد</a:t>
            </a:r>
          </a:p>
        </p:txBody>
      </p:sp>
      <p:sp>
        <p:nvSpPr>
          <p:cNvPr id="23" name="Rounded Rectangle 22"/>
          <p:cNvSpPr/>
          <p:nvPr/>
        </p:nvSpPr>
        <p:spPr>
          <a:xfrm>
            <a:off x="685800" y="5577840"/>
            <a:ext cx="10817352" cy="539496"/>
          </a:xfrm>
          <a:prstGeom prst="roundRect">
            <a:avLst>
              <a:gd name="adj" fmla="val 8000"/>
            </a:avLst>
          </a:prstGeom>
          <a:solidFill>
            <a:srgbClr val="EA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696712"/>
            <a:ext cx="10360152" cy="29260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61716D"/>
                </a:solidFill>
                <a:latin typeface="Arial"/>
                <a:ea typeface="Arial"/>
                <a:cs typeface="Arial"/>
              </a:rPr>
              <a:t>أمثلة تعليمية متحققة في اختبارات التطبيق، وليست تعليقات عملاء حقيقيين.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البيانات والنتائج الفعلية</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06 / 08</a:t>
            </a:r>
          </a:p>
        </p:txBody>
      </p:sp>
      <p:sp>
        <p:nvSpPr>
          <p:cNvPr id="9" name="Rounded Rectangle 8"/>
          <p:cNvSpPr/>
          <p:nvPr/>
        </p:nvSpPr>
        <p:spPr>
          <a:xfrm>
            <a:off x="8887968" y="1106424"/>
            <a:ext cx="2633472" cy="114300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97696" y="1243584"/>
            <a:ext cx="2414016"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900" b="1" lang="ar-SA">
                <a:solidFill>
                  <a:srgbClr val="237A57"/>
                </a:solidFill>
                <a:latin typeface="Arial"/>
                <a:ea typeface="Arial"/>
                <a:cs typeface="Arial"/>
              </a:rPr>
              <a:t>١٩٨</a:t>
            </a:r>
          </a:p>
        </p:txBody>
      </p:sp>
      <p:sp>
        <p:nvSpPr>
          <p:cNvPr id="11" name="TextBox 10"/>
          <p:cNvSpPr txBox="1"/>
          <p:nvPr/>
        </p:nvSpPr>
        <p:spPr>
          <a:xfrm>
            <a:off x="8997696" y="1828800"/>
            <a:ext cx="2414016" cy="2743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500" b="0" lang="ar-SA">
                <a:solidFill>
                  <a:srgbClr val="61716D"/>
                </a:solidFill>
                <a:latin typeface="Arial"/>
                <a:ea typeface="Arial"/>
                <a:cs typeface="Arial"/>
              </a:rPr>
              <a:t>إجمالي التعليقات</a:t>
            </a:r>
          </a:p>
        </p:txBody>
      </p:sp>
      <p:sp>
        <p:nvSpPr>
          <p:cNvPr id="12" name="Rounded Rectangle 11"/>
          <p:cNvSpPr/>
          <p:nvPr/>
        </p:nvSpPr>
        <p:spPr>
          <a:xfrm>
            <a:off x="6144768" y="1106424"/>
            <a:ext cx="2633472" cy="114300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1243584"/>
            <a:ext cx="2414016"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900" b="1" lang="ar-SA">
                <a:solidFill>
                  <a:srgbClr val="237A57"/>
                </a:solidFill>
                <a:latin typeface="Arial"/>
                <a:ea typeface="Arial"/>
                <a:cs typeface="Arial"/>
              </a:rPr>
              <a:t>١٠٢</a:t>
            </a:r>
          </a:p>
        </p:txBody>
      </p:sp>
      <p:sp>
        <p:nvSpPr>
          <p:cNvPr id="14" name="TextBox 13"/>
          <p:cNvSpPr txBox="1"/>
          <p:nvPr/>
        </p:nvSpPr>
        <p:spPr>
          <a:xfrm>
            <a:off x="6254496" y="1828800"/>
            <a:ext cx="2414016" cy="2743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500" b="0" lang="ar-SA">
                <a:solidFill>
                  <a:srgbClr val="61716D"/>
                </a:solidFill>
                <a:latin typeface="Arial"/>
                <a:ea typeface="Arial"/>
                <a:cs typeface="Arial"/>
              </a:rPr>
              <a:t>تعليق للتدريب</a:t>
            </a:r>
          </a:p>
        </p:txBody>
      </p:sp>
      <p:sp>
        <p:nvSpPr>
          <p:cNvPr id="15" name="Rounded Rectangle 14"/>
          <p:cNvSpPr/>
          <p:nvPr/>
        </p:nvSpPr>
        <p:spPr>
          <a:xfrm>
            <a:off x="3401568" y="1106424"/>
            <a:ext cx="2633472" cy="114300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1243584"/>
            <a:ext cx="2414016"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900" b="1" lang="ar-SA">
                <a:solidFill>
                  <a:srgbClr val="237A57"/>
                </a:solidFill>
                <a:latin typeface="Arial"/>
                <a:ea typeface="Arial"/>
                <a:cs typeface="Arial"/>
              </a:rPr>
              <a:t>٣٠</a:t>
            </a:r>
          </a:p>
        </p:txBody>
      </p:sp>
      <p:sp>
        <p:nvSpPr>
          <p:cNvPr id="17" name="TextBox 16"/>
          <p:cNvSpPr txBox="1"/>
          <p:nvPr/>
        </p:nvSpPr>
        <p:spPr>
          <a:xfrm>
            <a:off x="3511296" y="1828800"/>
            <a:ext cx="2414016" cy="2743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500" b="0" lang="ar-SA">
                <a:solidFill>
                  <a:srgbClr val="61716D"/>
                </a:solidFill>
                <a:latin typeface="Arial"/>
                <a:ea typeface="Arial"/>
                <a:cs typeface="Arial"/>
              </a:rPr>
              <a:t>تعليق للتحقق</a:t>
            </a:r>
          </a:p>
        </p:txBody>
      </p:sp>
      <p:sp>
        <p:nvSpPr>
          <p:cNvPr id="18" name="Rounded Rectangle 17"/>
          <p:cNvSpPr/>
          <p:nvPr/>
        </p:nvSpPr>
        <p:spPr>
          <a:xfrm>
            <a:off x="658368" y="1106424"/>
            <a:ext cx="2633472" cy="1143000"/>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1243584"/>
            <a:ext cx="2414016"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900" b="1" lang="ar-SA">
                <a:solidFill>
                  <a:srgbClr val="237A57"/>
                </a:solidFill>
                <a:latin typeface="Arial"/>
                <a:ea typeface="Arial"/>
                <a:cs typeface="Arial"/>
              </a:rPr>
              <a:t>٦٦</a:t>
            </a:r>
          </a:p>
        </p:txBody>
      </p:sp>
      <p:sp>
        <p:nvSpPr>
          <p:cNvPr id="20" name="TextBox 19"/>
          <p:cNvSpPr txBox="1"/>
          <p:nvPr/>
        </p:nvSpPr>
        <p:spPr>
          <a:xfrm>
            <a:off x="768096" y="1828800"/>
            <a:ext cx="2414016" cy="2743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500" b="0" lang="ar-SA">
                <a:solidFill>
                  <a:srgbClr val="61716D"/>
                </a:solidFill>
                <a:latin typeface="Arial"/>
                <a:ea typeface="Arial"/>
                <a:cs typeface="Arial"/>
              </a:rPr>
              <a:t>تعليق للاختبار</a:t>
            </a:r>
          </a:p>
        </p:txBody>
      </p:sp>
      <p:sp>
        <p:nvSpPr>
          <p:cNvPr id="21" name="TextBox 20"/>
          <p:cNvSpPr txBox="1"/>
          <p:nvPr/>
        </p:nvSpPr>
        <p:spPr>
          <a:xfrm>
            <a:off x="731520" y="2651760"/>
            <a:ext cx="1074420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173B4A"/>
                </a:solidFill>
                <a:latin typeface="Arial"/>
                <a:ea typeface="Arial"/>
                <a:cs typeface="Arial"/>
              </a:rPr>
              <a:t>مقارنة النموذجين على مجموعة الاختبار نفسها</a:t>
            </a:r>
          </a:p>
        </p:txBody>
      </p:sp>
      <p:sp>
        <p:nvSpPr>
          <p:cNvPr id="22" name="TextBox 21"/>
          <p:cNvSpPr txBox="1"/>
          <p:nvPr/>
        </p:nvSpPr>
        <p:spPr>
          <a:xfrm>
            <a:off x="7909560" y="3346704"/>
            <a:ext cx="33832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61716D"/>
                </a:solidFill>
                <a:latin typeface="Arial"/>
                <a:ea typeface="Arial"/>
                <a:cs typeface="Arial"/>
              </a:rPr>
              <a:t>النموذج الأساسي</a:t>
            </a:r>
          </a:p>
        </p:txBody>
      </p:sp>
      <p:sp>
        <p:nvSpPr>
          <p:cNvPr id="23" name="Rounded Rectangle 22"/>
          <p:cNvSpPr/>
          <p:nvPr/>
        </p:nvSpPr>
        <p:spPr>
          <a:xfrm>
            <a:off x="1901952" y="3410712"/>
            <a:ext cx="5577840" cy="320040"/>
          </a:xfrm>
          <a:prstGeom prst="roundRect">
            <a:avLst>
              <a:gd name="adj" fmla="val 8000"/>
            </a:avLst>
          </a:prstGeom>
          <a:solidFill>
            <a:srgbClr val="E4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09389" y="3410712"/>
            <a:ext cx="2970402" cy="320040"/>
          </a:xfrm>
          <a:prstGeom prst="roundRect">
            <a:avLst>
              <a:gd name="adj" fmla="val 8000"/>
            </a:avLst>
          </a:prstGeom>
          <a:solidFill>
            <a:srgbClr val="6171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300984"/>
            <a:ext cx="1033271" cy="438912"/>
          </a:xfrm>
          <a:prstGeom prst="rect">
            <a:avLst/>
          </a:prstGeom>
          <a:noFill/>
        </p:spPr>
        <p:txBody>
          <a:bodyPr wrap="square" lIns="27432" rIns="27432" tIns="27432" bIns="27432">
            <a:spAutoFit/>
          </a:bodyPr>
          <a:lstStyle/>
          <a:p>
            <a:pPr algn="ctr" rtl="0">
              <a:lnSpc>
                <a:spcPct val="112000"/>
              </a:lnSpc>
              <a:spcBef>
                <a:spcPts val="0"/>
              </a:spcBef>
              <a:spcAft>
                <a:spcPts val="700"/>
              </a:spcAft>
            </a:pPr>
            <a:r>
              <a:rPr sz="2300" b="1" lang="en-US">
                <a:solidFill>
                  <a:srgbClr val="61716D"/>
                </a:solidFill>
                <a:latin typeface="Arial"/>
                <a:ea typeface="Arial"/>
                <a:cs typeface="Arial"/>
              </a:rPr>
              <a:t>0.533</a:t>
            </a:r>
          </a:p>
        </p:txBody>
      </p:sp>
      <p:sp>
        <p:nvSpPr>
          <p:cNvPr id="26" name="TextBox 25"/>
          <p:cNvSpPr txBox="1"/>
          <p:nvPr/>
        </p:nvSpPr>
        <p:spPr>
          <a:xfrm>
            <a:off x="7909560" y="4297680"/>
            <a:ext cx="33832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النموذج المحسن</a:t>
            </a:r>
          </a:p>
        </p:txBody>
      </p:sp>
      <p:sp>
        <p:nvSpPr>
          <p:cNvPr id="27" name="Rounded Rectangle 26"/>
          <p:cNvSpPr/>
          <p:nvPr/>
        </p:nvSpPr>
        <p:spPr>
          <a:xfrm>
            <a:off x="1901952" y="4361688"/>
            <a:ext cx="5577840" cy="320040"/>
          </a:xfrm>
          <a:prstGeom prst="roundRect">
            <a:avLst>
              <a:gd name="adj" fmla="val 8000"/>
            </a:avLst>
          </a:prstGeom>
          <a:solidFill>
            <a:srgbClr val="E4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273137" y="4361688"/>
            <a:ext cx="3206654" cy="320040"/>
          </a:xfrm>
          <a:prstGeom prst="roundRect">
            <a:avLst>
              <a:gd name="adj" fmla="val 8000"/>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251960"/>
            <a:ext cx="1033271" cy="438912"/>
          </a:xfrm>
          <a:prstGeom prst="rect">
            <a:avLst/>
          </a:prstGeom>
          <a:noFill/>
        </p:spPr>
        <p:txBody>
          <a:bodyPr wrap="square" lIns="27432" rIns="27432" tIns="27432" bIns="27432">
            <a:spAutoFit/>
          </a:bodyPr>
          <a:lstStyle/>
          <a:p>
            <a:pPr algn="ctr" rtl="0">
              <a:lnSpc>
                <a:spcPct val="112000"/>
              </a:lnSpc>
              <a:spcBef>
                <a:spcPts val="0"/>
              </a:spcBef>
              <a:spcAft>
                <a:spcPts val="700"/>
              </a:spcAft>
            </a:pPr>
            <a:r>
              <a:rPr sz="2300" b="1" lang="en-US">
                <a:solidFill>
                  <a:srgbClr val="237A57"/>
                </a:solidFill>
                <a:latin typeface="Arial"/>
                <a:ea typeface="Arial"/>
                <a:cs typeface="Arial"/>
              </a:rPr>
              <a:t>0.575</a:t>
            </a:r>
          </a:p>
        </p:txBody>
      </p:sp>
      <p:sp>
        <p:nvSpPr>
          <p:cNvPr id="30" name="TextBox 29"/>
          <p:cNvSpPr txBox="1"/>
          <p:nvPr/>
        </p:nvSpPr>
        <p:spPr>
          <a:xfrm>
            <a:off x="822960" y="5257800"/>
            <a:ext cx="10515600" cy="384048"/>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700" b="0" lang="ar-SA">
                <a:solidFill>
                  <a:srgbClr val="173B4A"/>
                </a:solidFill>
                <a:latin typeface="Arial"/>
                <a:ea typeface="Arial"/>
                <a:cs typeface="Arial"/>
              </a:rPr>
              <a:t>مؤشر توازن التصنيف (Macro-F1): من صفر إلى واحد، والأعلى أفضل.</a:t>
            </a:r>
          </a:p>
        </p:txBody>
      </p:sp>
      <p:sp>
        <p:nvSpPr>
          <p:cNvPr id="31" name="TextBox 30"/>
          <p:cNvSpPr txBox="1"/>
          <p:nvPr/>
        </p:nvSpPr>
        <p:spPr>
          <a:xfrm>
            <a:off x="822960" y="5806440"/>
            <a:ext cx="10515600" cy="34747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600" b="0" lang="ar-SA">
                <a:solidFill>
                  <a:srgbClr val="61716D"/>
                </a:solidFill>
                <a:latin typeface="Arial"/>
                <a:ea typeface="Arial"/>
                <a:cs typeface="Arial"/>
              </a:rPr>
              <a:t>التحسن محدود؛ البيانات مؤلفة، والنتيجة لا تثبت جودة الاستخدام مع عملاء حقيقيين.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الفوائد وحدود النسخة الحالية</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07 / 08</a:t>
            </a:r>
          </a:p>
        </p:txBody>
      </p:sp>
      <p:sp>
        <p:nvSpPr>
          <p:cNvPr id="9" name="Rounded Rectangle 8"/>
          <p:cNvSpPr/>
          <p:nvPr/>
        </p:nvSpPr>
        <p:spPr>
          <a:xfrm>
            <a:off x="6263640" y="1143000"/>
            <a:ext cx="5257800" cy="3538728"/>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7" y="1307592"/>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الفوائد</a:t>
            </a:r>
          </a:p>
        </p:txBody>
      </p:sp>
      <p:sp>
        <p:nvSpPr>
          <p:cNvPr id="11" name="TextBox 10"/>
          <p:cNvSpPr txBox="1"/>
          <p:nvPr/>
        </p:nvSpPr>
        <p:spPr>
          <a:xfrm>
            <a:off x="6464807" y="1920240"/>
            <a:ext cx="4855464" cy="2642616"/>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تجمع آراء العملاء في صورة أسهل للفهم.</a:t>
            </a:r>
          </a:p>
          <a:p>
            <a:pPr algn="r" rtl="1">
              <a:lnSpc>
                <a:spcPct val="112000"/>
              </a:lnSpc>
              <a:spcBef>
                <a:spcPts val="0"/>
              </a:spcBef>
              <a:spcAft>
                <a:spcPts val="700"/>
              </a:spcAft>
            </a:pPr>
            <a:r>
              <a:rPr sz="1800" b="0" lang="ar-SA">
                <a:solidFill>
                  <a:srgbClr val="173B4A"/>
                </a:solidFill>
                <a:latin typeface="Arial"/>
                <a:ea typeface="Arial"/>
                <a:cs typeface="Arial"/>
              </a:rPr>
              <a:t>تعرض المشكلات والتعليقات المتشابهة.</a:t>
            </a:r>
          </a:p>
          <a:p>
            <a:pPr algn="r" rtl="1">
              <a:lnSpc>
                <a:spcPct val="112000"/>
              </a:lnSpc>
              <a:spcBef>
                <a:spcPts val="0"/>
              </a:spcBef>
              <a:spcAft>
                <a:spcPts val="700"/>
              </a:spcAft>
            </a:pPr>
            <a:r>
              <a:rPr sz="1800" b="0" lang="ar-SA">
                <a:solidFill>
                  <a:srgbClr val="173B4A"/>
                </a:solidFill>
                <a:latin typeface="Arial"/>
                <a:ea typeface="Arial"/>
                <a:cs typeface="Arial"/>
              </a:rPr>
              <a:t>تعمل محليًا دون اشتراك في خدمة لغوية.</a:t>
            </a:r>
          </a:p>
          <a:p>
            <a:pPr algn="r" rtl="1">
              <a:lnSpc>
                <a:spcPct val="112000"/>
              </a:lnSpc>
              <a:spcBef>
                <a:spcPts val="0"/>
              </a:spcBef>
              <a:spcAft>
                <a:spcPts val="700"/>
              </a:spcAft>
            </a:pPr>
            <a:r>
              <a:rPr sz="1800" b="0" lang="ar-SA">
                <a:solidFill>
                  <a:srgbClr val="173B4A"/>
                </a:solidFill>
                <a:latin typeface="Arial"/>
                <a:ea typeface="Arial"/>
                <a:cs typeface="Arial"/>
              </a:rPr>
              <a:t>توفر نتائج وخطوات تشغيل موثقة.</a:t>
            </a:r>
          </a:p>
        </p:txBody>
      </p:sp>
      <p:sp>
        <p:nvSpPr>
          <p:cNvPr id="12" name="Rounded Rectangle 11"/>
          <p:cNvSpPr/>
          <p:nvPr/>
        </p:nvSpPr>
        <p:spPr>
          <a:xfrm>
            <a:off x="667512" y="1143000"/>
            <a:ext cx="5257800" cy="3538728"/>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307592"/>
            <a:ext cx="4855464"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الحدود</a:t>
            </a:r>
          </a:p>
        </p:txBody>
      </p:sp>
      <p:sp>
        <p:nvSpPr>
          <p:cNvPr id="14" name="TextBox 13"/>
          <p:cNvSpPr txBox="1"/>
          <p:nvPr/>
        </p:nvSpPr>
        <p:spPr>
          <a:xfrm>
            <a:off x="868680" y="1920240"/>
            <a:ext cx="4855464" cy="2642616"/>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البيانات صغيرة وتعليمية مؤلفة.</a:t>
            </a:r>
          </a:p>
          <a:p>
            <a:pPr algn="r" rtl="1">
              <a:lnSpc>
                <a:spcPct val="112000"/>
              </a:lnSpc>
              <a:spcBef>
                <a:spcPts val="0"/>
              </a:spcBef>
              <a:spcAft>
                <a:spcPts val="700"/>
              </a:spcAft>
            </a:pPr>
            <a:r>
              <a:rPr sz="1800" b="0" lang="ar-SA">
                <a:solidFill>
                  <a:srgbClr val="173B4A"/>
                </a:solidFill>
                <a:latin typeface="Arial"/>
                <a:ea typeface="Arial"/>
                <a:cs typeface="Arial"/>
              </a:rPr>
              <a:t>قد تخطئ في السخرية والنفي واللهجات.</a:t>
            </a:r>
          </a:p>
          <a:p>
            <a:pPr algn="r" rtl="1">
              <a:lnSpc>
                <a:spcPct val="112000"/>
              </a:lnSpc>
              <a:spcBef>
                <a:spcPts val="0"/>
              </a:spcBef>
              <a:spcAft>
                <a:spcPts val="700"/>
              </a:spcAft>
            </a:pPr>
            <a:r>
              <a:rPr sz="1800" b="0" lang="ar-SA">
                <a:solidFill>
                  <a:srgbClr val="173B4A"/>
                </a:solidFill>
                <a:latin typeface="Arial"/>
                <a:ea typeface="Arial"/>
                <a:cs typeface="Arial"/>
              </a:rPr>
              <a:t>الثقة غير كافية لاتخاذ قرار آلي مستقل.</a:t>
            </a:r>
          </a:p>
          <a:p>
            <a:pPr algn="r" rtl="1">
              <a:lnSpc>
                <a:spcPct val="112000"/>
              </a:lnSpc>
              <a:spcBef>
                <a:spcPts val="0"/>
              </a:spcBef>
              <a:spcAft>
                <a:spcPts val="700"/>
              </a:spcAft>
            </a:pPr>
            <a:r>
              <a:rPr sz="1800" b="0" lang="ar-SA">
                <a:solidFill>
                  <a:srgbClr val="173B4A"/>
                </a:solidFill>
                <a:latin typeface="Arial"/>
                <a:ea typeface="Arial"/>
                <a:cs typeface="Arial"/>
              </a:rPr>
              <a:t>لا يوجد قياس ذهبي لدقة موضوعات التجميع.</a:t>
            </a:r>
          </a:p>
        </p:txBody>
      </p:sp>
      <p:sp>
        <p:nvSpPr>
          <p:cNvPr id="15" name="Rounded Rectangle 14"/>
          <p:cNvSpPr/>
          <p:nvPr/>
        </p:nvSpPr>
        <p:spPr>
          <a:xfrm>
            <a:off x="6263640" y="5020056"/>
            <a:ext cx="5257800" cy="758952"/>
          </a:xfrm>
          <a:prstGeom prst="roundRect">
            <a:avLst>
              <a:gd name="adj" fmla="val 8000"/>
            </a:avLst>
          </a:prstGeom>
          <a:solidFill>
            <a:srgbClr val="EA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5212080"/>
            <a:ext cx="4983480" cy="36576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1" lang="ar-SA">
                <a:solidFill>
                  <a:srgbClr val="237A57"/>
                </a:solidFill>
                <a:latin typeface="Arial"/>
                <a:ea typeface="Arial"/>
                <a:cs typeface="Arial"/>
              </a:rPr>
              <a:t>22 اختبارًا برمجيًا ناجحًا</a:t>
            </a:r>
          </a:p>
        </p:txBody>
      </p:sp>
      <p:sp>
        <p:nvSpPr>
          <p:cNvPr id="17" name="Rounded Rectangle 16"/>
          <p:cNvSpPr/>
          <p:nvPr/>
        </p:nvSpPr>
        <p:spPr>
          <a:xfrm>
            <a:off x="667512" y="5020056"/>
            <a:ext cx="5257800" cy="758952"/>
          </a:xfrm>
          <a:prstGeom prst="roundRect">
            <a:avLst>
              <a:gd name="adj" fmla="val 8000"/>
            </a:avLst>
          </a:prstGeom>
          <a:solidFill>
            <a:srgbClr val="EA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212080"/>
            <a:ext cx="4983480" cy="36576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000" b="1" lang="ar-SA">
                <a:solidFill>
                  <a:srgbClr val="237A57"/>
                </a:solidFill>
                <a:latin typeface="Arial"/>
                <a:ea typeface="Arial"/>
                <a:cs typeface="Arial"/>
              </a:rPr>
              <a:t>28 خطأ تنبؤ جرى تحليله</a:t>
            </a:r>
          </a:p>
        </p:txBody>
      </p:sp>
      <p:sp>
        <p:nvSpPr>
          <p:cNvPr id="19" name="TextBox 18"/>
          <p:cNvSpPr txBox="1"/>
          <p:nvPr/>
        </p:nvSpPr>
        <p:spPr>
          <a:xfrm>
            <a:off x="777240" y="5980176"/>
            <a:ext cx="10652760" cy="274320"/>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1500" b="0" lang="ar-SA">
                <a:solidFill>
                  <a:srgbClr val="61716D"/>
                </a:solidFill>
                <a:latin typeface="Arial"/>
                <a:ea typeface="Arial"/>
                <a:cs typeface="Arial"/>
              </a:rPr>
              <a:t>نجاح اختبارات البرنامج لا يعني أن جميع تنبؤات النموذج صحيحة.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Rectangle 1"/>
          <p:cNvSpPr/>
          <p:nvPr/>
        </p:nvSpPr>
        <p:spPr>
          <a:xfrm>
            <a:off x="0" y="0"/>
            <a:ext cx="12198096" cy="594360"/>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40280" y="109728"/>
            <a:ext cx="9326880" cy="3931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300" b="1" lang="ar-SA">
                <a:solidFill>
                  <a:srgbClr val="FFFFFF"/>
                </a:solidFill>
                <a:latin typeface="Arial"/>
                <a:ea typeface="Arial"/>
                <a:cs typeface="Arial"/>
              </a:rPr>
              <a:t>الخلاصة والتطوير القادم</a:t>
            </a:r>
          </a:p>
        </p:txBody>
      </p:sp>
      <p:sp>
        <p:nvSpPr>
          <p:cNvPr id="4" name="Rounded Rectangle 3"/>
          <p:cNvSpPr/>
          <p:nvPr/>
        </p:nvSpPr>
        <p:spPr>
          <a:xfrm>
            <a:off x="502920" y="96012"/>
            <a:ext cx="1444752" cy="3931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daia_academy.png"/>
          <p:cNvPicPr>
            <a:picLocks noChangeAspect="1"/>
          </p:cNvPicPr>
          <p:nvPr/>
        </p:nvPicPr>
        <p:blipFill>
          <a:blip r:embed="rId2"/>
          <a:stretch>
            <a:fillRect/>
          </a:stretch>
        </p:blipFill>
        <p:spPr>
          <a:xfrm>
            <a:off x="585216" y="137160"/>
            <a:ext cx="1280160" cy="299453"/>
          </a:xfrm>
          <a:prstGeom prst="rect">
            <a:avLst/>
          </a:prstGeom>
        </p:spPr>
      </p:pic>
      <p:sp>
        <p:nvSpPr>
          <p:cNvPr id="6" name="Rectangle 5"/>
          <p:cNvSpPr/>
          <p:nvPr/>
        </p:nvSpPr>
        <p:spPr>
          <a:xfrm>
            <a:off x="0" y="6784848"/>
            <a:ext cx="12198096" cy="73152"/>
          </a:xfrm>
          <a:prstGeom prst="rect">
            <a:avLst/>
          </a:prstGeom>
          <a:solidFill>
            <a:srgbClr val="23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6419088"/>
            <a:ext cx="7680960" cy="246888"/>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100" b="0" lang="ar-SA">
                <a:solidFill>
                  <a:srgbClr val="61716D"/>
                </a:solidFill>
                <a:latin typeface="Arial"/>
                <a:ea typeface="Arial"/>
                <a:cs typeface="Arial"/>
              </a:rPr>
              <a:t>Wadeen Khalid Al adwani | أكاديمية سدايا</a:t>
            </a:r>
          </a:p>
        </p:txBody>
      </p:sp>
      <p:sp>
        <p:nvSpPr>
          <p:cNvPr id="8" name="TextBox 7"/>
          <p:cNvSpPr txBox="1"/>
          <p:nvPr/>
        </p:nvSpPr>
        <p:spPr>
          <a:xfrm>
            <a:off x="594360" y="6419088"/>
            <a:ext cx="1371600" cy="246888"/>
          </a:xfrm>
          <a:prstGeom prst="rect">
            <a:avLst/>
          </a:prstGeom>
          <a:noFill/>
        </p:spPr>
        <p:txBody>
          <a:bodyPr wrap="square" lIns="27432" rIns="27432" tIns="27432" bIns="27432">
            <a:spAutoFit/>
          </a:bodyPr>
          <a:lstStyle/>
          <a:p>
            <a:pPr algn="l" rtl="0">
              <a:lnSpc>
                <a:spcPct val="112000"/>
              </a:lnSpc>
              <a:spcBef>
                <a:spcPts val="0"/>
              </a:spcBef>
              <a:spcAft>
                <a:spcPts val="700"/>
              </a:spcAft>
            </a:pPr>
            <a:r>
              <a:rPr sz="1100" b="0" lang="en-US">
                <a:solidFill>
                  <a:srgbClr val="61716D"/>
                </a:solidFill>
                <a:latin typeface="Arial"/>
                <a:ea typeface="Arial"/>
                <a:cs typeface="Arial"/>
              </a:rPr>
              <a:t>08 / 08</a:t>
            </a:r>
          </a:p>
        </p:txBody>
      </p:sp>
      <p:sp>
        <p:nvSpPr>
          <p:cNvPr id="9" name="Rounded Rectangle 8"/>
          <p:cNvSpPr/>
          <p:nvPr/>
        </p:nvSpPr>
        <p:spPr>
          <a:xfrm>
            <a:off x="685800" y="1051560"/>
            <a:ext cx="10817352" cy="914400"/>
          </a:xfrm>
          <a:prstGeom prst="roundRect">
            <a:avLst>
              <a:gd name="adj" fmla="val 8000"/>
            </a:avLst>
          </a:prstGeom>
          <a:solidFill>
            <a:srgbClr val="EA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307592"/>
            <a:ext cx="10351008" cy="438912"/>
          </a:xfrm>
          <a:prstGeom prst="rect">
            <a:avLst/>
          </a:prstGeom>
          <a:noFill/>
        </p:spPr>
        <p:txBody>
          <a:bodyPr wrap="square" lIns="27432" rIns="27432" tIns="27432" bIns="27432">
            <a:spAutoFit/>
          </a:bodyPr>
          <a:lstStyle/>
          <a:p>
            <a:pPr algn="ctr" rtl="1">
              <a:lnSpc>
                <a:spcPct val="112000"/>
              </a:lnSpc>
              <a:spcBef>
                <a:spcPts val="0"/>
              </a:spcBef>
              <a:spcAft>
                <a:spcPts val="700"/>
              </a:spcAft>
            </a:pPr>
            <a:r>
              <a:rPr sz="2200" b="1" lang="ar-SA">
                <a:solidFill>
                  <a:srgbClr val="237A57"/>
                </a:solidFill>
                <a:latin typeface="Arial"/>
                <a:ea typeface="Arial"/>
                <a:cs typeface="Arial"/>
              </a:rPr>
              <a:t>أداة تعليمية تساعد على فهم التعليقات، وتحتاج بيانات أوسع قبل الاستخدام الفعلي.</a:t>
            </a:r>
          </a:p>
        </p:txBody>
      </p:sp>
      <p:sp>
        <p:nvSpPr>
          <p:cNvPr id="11" name="Rounded Rectangle 10"/>
          <p:cNvSpPr/>
          <p:nvPr/>
        </p:nvSpPr>
        <p:spPr>
          <a:xfrm>
            <a:off x="7982712" y="2423160"/>
            <a:ext cx="3538728" cy="1746504"/>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2587752"/>
            <a:ext cx="3136392"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١ | بيانات أفضل</a:t>
            </a:r>
          </a:p>
        </p:txBody>
      </p:sp>
      <p:sp>
        <p:nvSpPr>
          <p:cNvPr id="13" name="TextBox 12"/>
          <p:cNvSpPr txBox="1"/>
          <p:nvPr/>
        </p:nvSpPr>
        <p:spPr>
          <a:xfrm>
            <a:off x="8183880" y="3200400"/>
            <a:ext cx="3136392" cy="8503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تعليقات حقيقية مصرح بها،</a:t>
            </a:r>
          </a:p>
          <a:p>
            <a:pPr algn="r" rtl="1">
              <a:lnSpc>
                <a:spcPct val="112000"/>
              </a:lnSpc>
              <a:spcBef>
                <a:spcPts val="0"/>
              </a:spcBef>
              <a:spcAft>
                <a:spcPts val="700"/>
              </a:spcAft>
            </a:pPr>
            <a:r>
              <a:rPr sz="1800" b="0" lang="ar-SA">
                <a:solidFill>
                  <a:srgbClr val="173B4A"/>
                </a:solidFill>
                <a:latin typeface="Arial"/>
                <a:ea typeface="Arial"/>
                <a:cs typeface="Arial"/>
              </a:rPr>
              <a:t>مع مراجعة تصنيفها.</a:t>
            </a:r>
          </a:p>
        </p:txBody>
      </p:sp>
      <p:sp>
        <p:nvSpPr>
          <p:cNvPr id="14" name="Rounded Rectangle 13"/>
          <p:cNvSpPr/>
          <p:nvPr/>
        </p:nvSpPr>
        <p:spPr>
          <a:xfrm>
            <a:off x="4306824" y="2423160"/>
            <a:ext cx="3538728" cy="1746504"/>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2587752"/>
            <a:ext cx="3136392"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٢ | تنوع أكبر</a:t>
            </a:r>
          </a:p>
        </p:txBody>
      </p:sp>
      <p:sp>
        <p:nvSpPr>
          <p:cNvPr id="16" name="TextBox 15"/>
          <p:cNvSpPr txBox="1"/>
          <p:nvPr/>
        </p:nvSpPr>
        <p:spPr>
          <a:xfrm>
            <a:off x="4507992" y="3200400"/>
            <a:ext cx="3136392" cy="8503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لهجات وصيغ كتابة أكثر،</a:t>
            </a:r>
          </a:p>
          <a:p>
            <a:pPr algn="r" rtl="1">
              <a:lnSpc>
                <a:spcPct val="112000"/>
              </a:lnSpc>
              <a:spcBef>
                <a:spcPts val="0"/>
              </a:spcBef>
              <a:spcAft>
                <a:spcPts val="700"/>
              </a:spcAft>
            </a:pPr>
            <a:r>
              <a:rPr sz="1800" b="0" lang="ar-SA">
                <a:solidFill>
                  <a:srgbClr val="173B4A"/>
                </a:solidFill>
                <a:latin typeface="Arial"/>
                <a:ea typeface="Arial"/>
                <a:cs typeface="Arial"/>
              </a:rPr>
              <a:t>وتقييم الثقة في النتائج.</a:t>
            </a:r>
          </a:p>
        </p:txBody>
      </p:sp>
      <p:sp>
        <p:nvSpPr>
          <p:cNvPr id="17" name="Rounded Rectangle 16"/>
          <p:cNvSpPr/>
          <p:nvPr/>
        </p:nvSpPr>
        <p:spPr>
          <a:xfrm>
            <a:off x="630936" y="2423160"/>
            <a:ext cx="3538728" cy="1746504"/>
          </a:xfrm>
          <a:prstGeom prst="roundRect">
            <a:avLst>
              <a:gd name="adj" fmla="val 8000"/>
            </a:avLst>
          </a:prstGeom>
          <a:solidFill>
            <a:srgbClr val="FFFFFF"/>
          </a:solidFill>
          <a:ln w="8890">
            <a:solidFill>
              <a:srgbClr val="DC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 y="2587752"/>
            <a:ext cx="3136392" cy="43891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100" b="1" lang="ar-SA">
                <a:solidFill>
                  <a:srgbClr val="237A57"/>
                </a:solidFill>
                <a:latin typeface="Arial"/>
                <a:ea typeface="Arial"/>
                <a:cs typeface="Arial"/>
              </a:rPr>
              <a:t>٣ | مقارنة أقوى</a:t>
            </a:r>
          </a:p>
        </p:txBody>
      </p:sp>
      <p:sp>
        <p:nvSpPr>
          <p:cNvPr id="19" name="TextBox 18"/>
          <p:cNvSpPr txBox="1"/>
          <p:nvPr/>
        </p:nvSpPr>
        <p:spPr>
          <a:xfrm>
            <a:off x="832103" y="3200400"/>
            <a:ext cx="3136392" cy="85039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800" b="0" lang="ar-SA">
                <a:solidFill>
                  <a:srgbClr val="173B4A"/>
                </a:solidFill>
                <a:latin typeface="Arial"/>
                <a:ea typeface="Arial"/>
                <a:cs typeface="Arial"/>
              </a:rPr>
              <a:t>تجربة نماذج أقوى</a:t>
            </a:r>
          </a:p>
          <a:p>
            <a:pPr algn="r" rtl="1">
              <a:lnSpc>
                <a:spcPct val="112000"/>
              </a:lnSpc>
              <a:spcBef>
                <a:spcPts val="0"/>
              </a:spcBef>
              <a:spcAft>
                <a:spcPts val="700"/>
              </a:spcAft>
            </a:pPr>
            <a:r>
              <a:rPr sz="1800" b="0" lang="ar-SA">
                <a:solidFill>
                  <a:srgbClr val="173B4A"/>
                </a:solidFill>
                <a:latin typeface="Arial"/>
                <a:ea typeface="Arial"/>
                <a:cs typeface="Arial"/>
              </a:rPr>
              <a:t>على اختبار جديد ومستقل.</a:t>
            </a:r>
          </a:p>
        </p:txBody>
      </p:sp>
      <p:sp>
        <p:nvSpPr>
          <p:cNvPr id="20" name="TextBox 19"/>
          <p:cNvSpPr txBox="1"/>
          <p:nvPr/>
        </p:nvSpPr>
        <p:spPr>
          <a:xfrm>
            <a:off x="777240" y="4553712"/>
            <a:ext cx="10652760" cy="347472"/>
          </a:xfrm>
          <a:prstGeom prst="rect">
            <a:avLst/>
          </a:prstGeom>
          <a:noFill/>
        </p:spPr>
        <p:txBody>
          <a:bodyPr wrap="square" lIns="27432" rIns="27432" tIns="27432" bIns="27432">
            <a:spAutoFit/>
          </a:bodyPr>
          <a:lstStyle/>
          <a:p>
            <a:pPr algn="r" rtl="1">
              <a:lnSpc>
                <a:spcPct val="112000"/>
              </a:lnSpc>
              <a:spcBef>
                <a:spcPts val="0"/>
              </a:spcBef>
              <a:spcAft>
                <a:spcPts val="700"/>
              </a:spcAft>
            </a:pPr>
            <a:r>
              <a:rPr sz="2000" b="1" lang="ar-SA">
                <a:solidFill>
                  <a:srgbClr val="173B4A"/>
                </a:solidFill>
                <a:latin typeface="Arial"/>
                <a:ea typeface="Arial"/>
                <a:cs typeface="Arial"/>
              </a:rPr>
              <a:t>مصادر التقرير</a:t>
            </a:r>
          </a:p>
        </p:txBody>
      </p:sp>
      <p:sp>
        <p:nvSpPr>
          <p:cNvPr id="21" name="TextBox 20"/>
          <p:cNvSpPr txBox="1"/>
          <p:nvPr/>
        </p:nvSpPr>
        <p:spPr>
          <a:xfrm>
            <a:off x="777240" y="5038344"/>
            <a:ext cx="10652760" cy="283464"/>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400" b="0" lang="ar-SA">
                <a:solidFill>
                  <a:srgbClr val="237A57"/>
                </a:solidFill>
                <a:latin typeface="Arial"/>
                <a:ea typeface="Arial"/>
                <a:cs typeface="Arial"/>
                <a:hlinkClick r:id="rId3"/>
              </a:rPr>
              <a:t>خطة البرنامج التدريبي — أكاديمية سدايا</a:t>
            </a:r>
          </a:p>
        </p:txBody>
      </p:sp>
      <p:sp>
        <p:nvSpPr>
          <p:cNvPr id="22" name="TextBox 21"/>
          <p:cNvSpPr txBox="1"/>
          <p:nvPr/>
        </p:nvSpPr>
        <p:spPr>
          <a:xfrm>
            <a:off x="777240" y="5376672"/>
            <a:ext cx="10652760" cy="283464"/>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400" b="0" lang="ar-SA">
                <a:solidFill>
                  <a:srgbClr val="237A57"/>
                </a:solidFill>
                <a:latin typeface="Arial"/>
                <a:ea typeface="Arial"/>
                <a:cs typeface="Arial"/>
                <a:hlinkClick r:id="rId4"/>
              </a:rPr>
              <a:t>مستودع المشروع — الكود والنتائج وتقارير التقييم</a:t>
            </a:r>
          </a:p>
        </p:txBody>
      </p:sp>
      <p:sp>
        <p:nvSpPr>
          <p:cNvPr id="23" name="TextBox 22"/>
          <p:cNvSpPr txBox="1"/>
          <p:nvPr/>
        </p:nvSpPr>
        <p:spPr>
          <a:xfrm>
            <a:off x="777240" y="5715000"/>
            <a:ext cx="10652760" cy="283464"/>
          </a:xfrm>
          <a:prstGeom prst="rect">
            <a:avLst/>
          </a:prstGeom>
          <a:noFill/>
        </p:spPr>
        <p:txBody>
          <a:bodyPr wrap="square" lIns="27432" rIns="27432" tIns="27432" bIns="27432">
            <a:spAutoFit/>
          </a:bodyPr>
          <a:lstStyle/>
          <a:p>
            <a:pPr algn="r" rtl="1">
              <a:lnSpc>
                <a:spcPct val="112000"/>
              </a:lnSpc>
              <a:spcBef>
                <a:spcPts val="0"/>
              </a:spcBef>
              <a:spcAft>
                <a:spcPts val="700"/>
              </a:spcAft>
            </a:pPr>
            <a:r>
              <a:rPr sz="1400" b="0" lang="ar-SA">
                <a:solidFill>
                  <a:srgbClr val="237A57"/>
                </a:solidFill>
                <a:latin typeface="Arial"/>
                <a:ea typeface="Arial"/>
                <a:cs typeface="Arial"/>
                <a:hlinkClick r:id="rId5"/>
              </a:rPr>
              <a:t>شعار أكاديمية سدايا — من مستودع الدورة الرسمي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of Customer — تقرير البرنامج التدريبي والمشروع</dc:title>
  <dc:subject>تقرير مختصر ومبسط عن برنامج أكاديمية سدايا ومشروع تحليل صوت العميل</dc:subject>
  <dc:creator>Wadeen Khalid Al adwani</dc:creator>
  <cp:keywords>Voice of Customer, SDAIA Academy, Arabic, training report</cp:keywords>
  <dc:description>Prepared from project evidence and the official course outline. Educational authored data; not a claim of production readiness or instructor approval.</dc:description>
  <cp:lastModifiedBy>Steve Canny</cp:lastModifiedBy>
  <cp:revision>1</cp:revision>
  <dcterms:created xsi:type="dcterms:W3CDTF">2013-01-27T09:14:16Z</dcterms:created>
  <dcterms:modified xsi:type="dcterms:W3CDTF">2013-01-27T09:15:58Z</dcterms:modified>
  <cp:category/>
</cp:coreProperties>
</file>